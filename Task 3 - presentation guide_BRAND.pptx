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6598d3b3394271" /><Relationship Type="http://schemas.openxmlformats.org/officeDocument/2006/relationships/extended-properties" Target="/docProps/app.xml" Id="R14806b3d1d604fb5" /><Relationship Type="http://schemas.openxmlformats.org/officeDocument/2006/relationships/officeDocument" Target="/ppt/presentation.xml" Id="Ra1714909a840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6c497e93d4cd5"/>
  </p:sldMasterIdLst>
  <p:notesMasterIdLst>
    <p:notesMasterId xmlns:r="http://schemas.openxmlformats.org/officeDocument/2006/relationships" r:id="R26210d9b46494d3b"/>
  </p:notesMasterIdLst>
  <p:sldIdLst>
    <p:sldId xmlns:r="http://schemas.openxmlformats.org/officeDocument/2006/relationships" id="256" r:id="Reaa95720e3c14750"/>
    <p:sldId xmlns:r="http://schemas.openxmlformats.org/officeDocument/2006/relationships" id="257" r:id="R6721922ad4ad4b10"/>
    <p:sldId xmlns:r="http://schemas.openxmlformats.org/officeDocument/2006/relationships" id="258" r:id="Rcc8376e2d54f4910"/>
    <p:sldId xmlns:r="http://schemas.openxmlformats.org/officeDocument/2006/relationships" id="259" r:id="R7a3dbe59983147f1"/>
    <p:sldId xmlns:r="http://schemas.openxmlformats.org/officeDocument/2006/relationships" id="260" r:id="R376317dfb7da4e15"/>
    <p:sldId xmlns:r="http://schemas.openxmlformats.org/officeDocument/2006/relationships" id="261" r:id="Re3a493a8bf924766"/>
    <p:sldId xmlns:r="http://schemas.openxmlformats.org/officeDocument/2006/relationships" id="262" r:id="Rcc939f28cb8e4ff3"/>
    <p:sldId xmlns:r="http://schemas.openxmlformats.org/officeDocument/2006/relationships" id="263" r:id="R717601e7e6454e22"/>
    <p:sldId xmlns:r="http://schemas.openxmlformats.org/officeDocument/2006/relationships" id="264" r:id="R2156499227c44311"/>
    <p:sldId xmlns:r="http://schemas.openxmlformats.org/officeDocument/2006/relationships" id="265" r:id="Rf37c372adfa44a4b"/>
    <p:sldId xmlns:r="http://schemas.openxmlformats.org/officeDocument/2006/relationships" id="266" r:id="R31dadd3cbc4644d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576762456249a6" /><Relationship Type="http://schemas.openxmlformats.org/officeDocument/2006/relationships/slideMaster" Target="/ppt/slideMasters/slideMaster1.xml" Id="R7466c497e93d4cd5" /><Relationship Type="http://schemas.openxmlformats.org/officeDocument/2006/relationships/notesMaster" Target="/ppt/notesMasters/notesMaster1.xml" Id="R26210d9b46494d3b" /><Relationship Type="http://schemas.openxmlformats.org/officeDocument/2006/relationships/presProps" Target="/ppt/presProps.xml" Id="R8dce2d73aa83430c" /><Relationship Type="http://schemas.openxmlformats.org/officeDocument/2006/relationships/tableStyles" Target="/ppt/tableStyles.xml" Id="R37d6345baf8f4086" /><Relationship Type="http://schemas.openxmlformats.org/officeDocument/2006/relationships/slide" Target="/ppt/slides/slide1.xml" Id="Reaa95720e3c14750" /><Relationship Type="http://schemas.openxmlformats.org/officeDocument/2006/relationships/slide" Target="/ppt/slides/slide2.xml" Id="R6721922ad4ad4b10" /><Relationship Type="http://schemas.openxmlformats.org/officeDocument/2006/relationships/slide" Target="/ppt/slides/slide3.xml" Id="Rcc8376e2d54f4910" /><Relationship Type="http://schemas.openxmlformats.org/officeDocument/2006/relationships/slide" Target="/ppt/slides/slide4.xml" Id="R7a3dbe59983147f1" /><Relationship Type="http://schemas.openxmlformats.org/officeDocument/2006/relationships/slide" Target="/ppt/slides/slide5.xml" Id="R376317dfb7da4e15" /><Relationship Type="http://schemas.openxmlformats.org/officeDocument/2006/relationships/slide" Target="/ppt/slides/slide6.xml" Id="Re3a493a8bf924766" /><Relationship Type="http://schemas.openxmlformats.org/officeDocument/2006/relationships/slide" Target="/ppt/slides/slide7.xml" Id="Rcc939f28cb8e4ff3" /><Relationship Type="http://schemas.openxmlformats.org/officeDocument/2006/relationships/slide" Target="/ppt/slides/slide8.xml" Id="R717601e7e6454e22" /><Relationship Type="http://schemas.openxmlformats.org/officeDocument/2006/relationships/slide" Target="/ppt/slides/slide9.xml" Id="R2156499227c44311" /><Relationship Type="http://schemas.openxmlformats.org/officeDocument/2006/relationships/slide" Target="/ppt/slides/slide10.xml" Id="Rf37c372adfa44a4b" /><Relationship Type="http://schemas.openxmlformats.org/officeDocument/2006/relationships/slide" Target="/ppt/slides/slide11.xml" Id="R31dadd3cbc4644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bedd2af550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5cf9404b0e4187" /><Relationship Type="http://schemas.openxmlformats.org/officeDocument/2006/relationships/notesMaster" Target="/ppt/notesMasters/notesMaster1.xml" Id="R93ebf2481a7e45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1de6d6969349eb" /><Relationship Type="http://schemas.openxmlformats.org/officeDocument/2006/relationships/notesMaster" Target="/ppt/notesMasters/notesMaster1.xml" Id="Rbd6e347fdfff4b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5db7b5d9924c0e" /><Relationship Type="http://schemas.openxmlformats.org/officeDocument/2006/relationships/notesMaster" Target="/ppt/notesMasters/notesMaster1.xml" Id="Rd57eb8fcff9f43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5ede3c4cb40fa" /><Relationship Type="http://schemas.openxmlformats.org/officeDocument/2006/relationships/notesMaster" Target="/ppt/notesMasters/notesMaster1.xml" Id="Ra9183f7cb0da41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69103b39624c39" /><Relationship Type="http://schemas.openxmlformats.org/officeDocument/2006/relationships/notesMaster" Target="/ppt/notesMasters/notesMaster1.xml" Id="R8853828907684f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200a40cecb41ff" /><Relationship Type="http://schemas.openxmlformats.org/officeDocument/2006/relationships/notesMaster" Target="/ppt/notesMasters/notesMaster1.xml" Id="R846858c6117b42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19461c5d5b4c0d" /><Relationship Type="http://schemas.openxmlformats.org/officeDocument/2006/relationships/notesMaster" Target="/ppt/notesMasters/notesMaster1.xml" Id="R61c26c11a02f4f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e0afbaf997476a" /><Relationship Type="http://schemas.openxmlformats.org/officeDocument/2006/relationships/notesMaster" Target="/ppt/notesMasters/notesMaster1.xml" Id="R5c6aa898e65a47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79d9d8d032426b" /><Relationship Type="http://schemas.openxmlformats.org/officeDocument/2006/relationships/notesMaster" Target="/ppt/notesMasters/notesMaster1.xml" Id="Rc4def10f012a44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4e2441ca7d4e85" /><Relationship Type="http://schemas.openxmlformats.org/officeDocument/2006/relationships/notesMaster" Target="/ppt/notesMasters/notesMaster1.xml" Id="Rc6390fb3839c4e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c5f48b51b44c31" /><Relationship Type="http://schemas.openxmlformats.org/officeDocument/2006/relationships/notesMaster" Target="/ppt/notesMasters/notesMaster1.xml" Id="R2c0275ea264c42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Cover photograph is from the supplied Task 3 presentation guide. Analysis uses transactions dated July 2018 through June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Task 1 uses chip-only data; Task 2 uses QVI_data.csv including Salsa. The data scopes differ and their sales totals are not directly comparable.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Top three segment share 24.91% of $1,805,177.70 chip sales. Daily comparison uses 2018-12-18 to 2018-12-24 versus 2018-12-01 to 2018-12-07. Trial results use aggregate uplift and Holm-adjusted p-values.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Task 1 chip-only data: grouped TOT_SALES by DATE. 2018-12-25 has zero recorded transactions; the data do not establish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Task 1 chip-only products: sum PROD_QTY divided by unique LYLTY_CARD_NBR within each LIFESTAGE and PREMIUM_CUSTOMER cell. Older Families range 9.07–9.26; Young Families 8.64–8.72.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Task 1 chip-only total $1,805,177.70. Segment sales sum TOT_SALES by LIFESTAGE and PREMIUM_CUSTOMER. The three largest cells contribute 24.91% of category sales.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Controls selected using aligned seven-month pre-trial sales/customer series: 77→233, 86→155, 88→237. Control scaled by pre-trial total ratio. Aggregate uplift compares Feb–Apr totals. Exact permutation over C(10,3)=120 label assignments; Holm adjusts six outcomes. Sales p values 0.0500, 0.0167, 0.0583 before adjustment.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Unique LYLTY_CARD_NBR per store-month. Scaled controls use the seven-month pre-trial customer total ratio. Exact monthly permutation and six-test Holm correction as in Module 2. Unadjusted customer p values: 0.0500, 0.0083, 0.0583.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QVI_purchase_behaviour.csv, QVI_transaction_data.xlsx and QVI_data.csv. Analysis: Module 1 and Module 2 notebooks. Segment sales from Task 1; adjusted store tests from Task 2. The trial findings are exploratory and do not isolate a causal layout effect.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c6f606c754b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6b5d9e22343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fea79c1344b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f62dedb3c49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db07f62124d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3efdae9914c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235F71-2918-4EA1-ACD1-E08733D4A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7BB285-0B6A-42FC-8403-361C110644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8C8BB2-5E67-4B74-8F60-07CE502AC4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C52693-0D8E-4B37-A616-5FFCE52CEC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E49609-3FBF-44A6-B3A9-7D7726F22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44D72D-8C9C-481C-8319-98C8A96DE9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291269-0D77-4B3D-9AC2-5C218293E1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02BACC-3285-4340-BE42-27DA20BB01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4AC883-5B5F-4FFB-BE34-D72B24357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17A871-A29F-4120-93C2-A04A040F59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d7a3fabf9646b4" /><Relationship Type="http://schemas.openxmlformats.org/officeDocument/2006/relationships/slideLayout" Target="/ppt/slideLayouts/slideLayout1.xml" Id="R66e1069342774f06" /><Relationship Type="http://schemas.openxmlformats.org/officeDocument/2006/relationships/slideLayout" Target="/ppt/slideLayouts/slideLayout2.xml" Id="R48dc08da01f84430" /><Relationship Type="http://schemas.openxmlformats.org/officeDocument/2006/relationships/slideLayout" Target="/ppt/slideLayouts/slideLayout3.xml" Id="Rf7997edab1144b57" /><Relationship Type="http://schemas.openxmlformats.org/officeDocument/2006/relationships/slideLayout" Target="/ppt/slideLayouts/slideLayout4.xml" Id="R767e88dd817442f0" /><Relationship Type="http://schemas.openxmlformats.org/officeDocument/2006/relationships/slideLayout" Target="/ppt/slideLayouts/slideLayout5.xml" Id="Rc7ea1bf27f5d49fb" /><Relationship Type="http://schemas.openxmlformats.org/officeDocument/2006/relationships/slideLayout" Target="/ppt/slideLayouts/slideLayout6.xml" Id="R33251fe170664f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e1069342774f06"/>
    <p:sldLayoutId xmlns:r="http://schemas.openxmlformats.org/officeDocument/2006/relationships" id="2147483650" r:id="R48dc08da01f84430"/>
    <p:sldLayoutId xmlns:r="http://schemas.openxmlformats.org/officeDocument/2006/relationships" id="2147483651" r:id="Rf7997edab1144b57"/>
    <p:sldLayoutId xmlns:r="http://schemas.openxmlformats.org/officeDocument/2006/relationships" id="2147483652" r:id="R767e88dd817442f0"/>
    <p:sldLayoutId xmlns:r="http://schemas.openxmlformats.org/officeDocument/2006/relationships" id="2147483653" r:id="Rc7ea1bf27f5d49fb"/>
    <p:sldLayoutId xmlns:r="http://schemas.openxmlformats.org/officeDocument/2006/relationships" id="2147483654" r:id="R33251fe170664f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631d075314d29" /><Relationship Type="http://schemas.openxmlformats.org/officeDocument/2006/relationships/image" Target="/ppt/media/image.jpeg" Id="Ra5052a351dda492d" /><Relationship Type="http://schemas.openxmlformats.org/officeDocument/2006/relationships/notesSlide" Target="/ppt/notesSlides/notesSlide1.xml" Id="R07762d65bcdb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502d0e2b54340" /><Relationship Type="http://schemas.openxmlformats.org/officeDocument/2006/relationships/notesSlide" Target="/ppt/notesSlides/notesSlide2.xml" Id="R07e19a939e8544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1b69010be4073" /><Relationship Type="http://schemas.openxmlformats.org/officeDocument/2006/relationships/notesSlide" Target="/ppt/notesSlides/notesSlide3.xml" Id="R8c78d6bd39e143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ac4e97b0641da" /><Relationship Type="http://schemas.openxmlformats.org/officeDocument/2006/relationships/notesSlide" Target="/ppt/notesSlides/notesSlide4.xml" Id="R7e05bbac08c54a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02bf9e67f47ee" /><Relationship Type="http://schemas.openxmlformats.org/officeDocument/2006/relationships/chart" Target="/ppt/slides/charts/chart1.xml" Id="R88d483dc29f64837" /><Relationship Type="http://schemas.openxmlformats.org/officeDocument/2006/relationships/notesSlide" Target="/ppt/notesSlides/notesSlide5.xml" Id="R59913085e3d2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d1eb8ca8fd475d" /><Relationship Type="http://schemas.openxmlformats.org/officeDocument/2006/relationships/chart" Target="/ppt/slides/charts/chart2.xml" Id="Rdbdf898727af4f7e" /><Relationship Type="http://schemas.openxmlformats.org/officeDocument/2006/relationships/notesSlide" Target="/ppt/notesSlides/notesSlide6.xml" Id="R9113c1c498b341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65e7c651a54d53" /><Relationship Type="http://schemas.openxmlformats.org/officeDocument/2006/relationships/chart" Target="/ppt/slides/charts/chart3.xml" Id="R2863c155023445bd" /><Relationship Type="http://schemas.openxmlformats.org/officeDocument/2006/relationships/notesSlide" Target="/ppt/notesSlides/notesSlide7.xml" Id="R5e219c9571c844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ea9f212ce475b" /><Relationship Type="http://schemas.openxmlformats.org/officeDocument/2006/relationships/notesSlide" Target="/ppt/notesSlides/notesSlide8.xml" Id="R6a9c119f67e044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036e48f1d41f3" /><Relationship Type="http://schemas.openxmlformats.org/officeDocument/2006/relationships/chart" Target="/ppt/slides/charts/chart4.xml" Id="Rac0a0481e2644689" /><Relationship Type="http://schemas.openxmlformats.org/officeDocument/2006/relationships/chart" Target="/ppt/slides/charts/chart5.xml" Id="R8f9a4238b0a84f3a" /><Relationship Type="http://schemas.openxmlformats.org/officeDocument/2006/relationships/chart" Target="/ppt/slides/charts/chart6.xml" Id="R4168a163e55e480c" /><Relationship Type="http://schemas.openxmlformats.org/officeDocument/2006/relationships/notesSlide" Target="/ppt/notesSlides/notesSlide9.xml" Id="R5a892a4fc56143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1b4d13aed400e" /><Relationship Type="http://schemas.openxmlformats.org/officeDocument/2006/relationships/chart" Target="/ppt/slides/charts/chart7.xml" Id="R83ee004d347d4ef1" /><Relationship Type="http://schemas.openxmlformats.org/officeDocument/2006/relationships/chart" Target="/ppt/slides/charts/chart8.xml" Id="R23aa859ce8164ce4" /><Relationship Type="http://schemas.openxmlformats.org/officeDocument/2006/relationships/chart" Target="/ppt/slides/charts/chart9.xml" Id="Rd6c6dfc28b9045ac" /><Relationship Type="http://schemas.openxmlformats.org/officeDocument/2006/relationships/notesSlide" Target="/ppt/notesSlides/notesSlide10.xml" Id="R0df2dc7b9bb943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40fbb76bbe432d" /><Relationship Type="http://schemas.openxmlformats.org/officeDocument/2006/relationships/notesSlide" Target="/ppt/notesSlides/notesSlide11.xml" Id="Rcea906fe102242a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Daily sales ($)</c:v>
          </c:tx>
          <c:spPr>
            <a:ln xmlns:a="http://schemas.openxmlformats.org/drawingml/2006/main" w="19050">
              <a:solidFill>
                <a:srgbClr val="1F77B4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</c:numLit>
          </c:cat>
          <c:val>
            <c:numLit>
              <c:formatCode>$#,##0</c:formatCode>
              <c:ptCount val="31"/>
              <c:pt idx="0">
                <c:v>5000.9</c:v>
              </c:pt>
              <c:pt idx="1">
                <c:v>4781.1</c:v>
              </c:pt>
              <c:pt idx="2">
                <c:v>4927</c:v>
              </c:pt>
              <c:pt idx="3">
                <c:v>4869.4</c:v>
              </c:pt>
              <c:pt idx="4">
                <c:v>4900.5</c:v>
              </c:pt>
              <c:pt idx="5">
                <c:v>4792.9</c:v>
              </c:pt>
              <c:pt idx="6">
                <c:v>4971.7</c:v>
              </c:pt>
              <c:pt idx="7">
                <c:v>4618.4</c:v>
              </c:pt>
              <c:pt idx="8">
                <c:v>4844.8</c:v>
              </c:pt>
              <c:pt idx="9">
                <c:v>5037.7</c:v>
              </c:pt>
              <c:pt idx="10">
                <c:v>5092.5</c:v>
              </c:pt>
              <c:pt idx="11">
                <c:v>4553.7</c:v>
              </c:pt>
              <c:pt idx="12">
                <c:v>4946.4</c:v>
              </c:pt>
              <c:pt idx="13">
                <c:v>5173</c:v>
              </c:pt>
              <c:pt idx="14">
                <c:v>4955.8</c:v>
              </c:pt>
              <c:pt idx="15">
                <c:v>5211.7</c:v>
              </c:pt>
              <c:pt idx="16">
                <c:v>5204.2</c:v>
              </c:pt>
              <c:pt idx="17">
                <c:v>5762.2</c:v>
              </c:pt>
              <c:pt idx="18">
                <c:v>6164.7</c:v>
              </c:pt>
              <c:pt idx="19">
                <c:v>5942.8</c:v>
              </c:pt>
              <c:pt idx="20">
                <c:v>5788.3</c:v>
              </c:pt>
              <c:pt idx="21">
                <c:v>6079.8</c:v>
              </c:pt>
              <c:pt idx="22">
                <c:v>6372.1</c:v>
              </c:pt>
              <c:pt idx="23">
                <c:v>6410.9</c:v>
              </c:pt>
              <c:pt idx="24">
                <c:v>0</c:v>
              </c:pt>
              <c:pt idx="25">
                <c:v>5159.3</c:v>
              </c:pt>
              <c:pt idx="26">
                <c:v>5166.9</c:v>
              </c:pt>
              <c:pt idx="27">
                <c:v>4920</c:v>
              </c:pt>
              <c:pt idx="28">
                <c:v>4873.2</c:v>
              </c:pt>
              <c:pt idx="29">
                <c:v>5024.6</c:v>
              </c:pt>
              <c:pt idx="30">
                <c:v>4915.1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latin typeface="Arial"/>
                    <a:ea typeface="Arial"/>
                    <a:cs typeface="Arial"/>
                  </a:rPr>
                  <a:t>December 2018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Offset val="75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3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latin typeface="Arial"/>
                    <a:ea typeface="Arial"/>
                    <a:cs typeface="Arial"/>
                  </a:rPr>
                  <a:t>Sales ($)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</c:title>
        <c:numFmt formatCode="$#,##0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Budget</c:v>
          </c:tx>
          <c:spPr>
            <a:solidFill xmlns:a="http://schemas.openxmlformats.org/drawingml/2006/main">
              <a:srgbClr val="1F77B4"/>
            </a:solidFill>
          </c:spPr>
          <c:cat>
            <c:strLit>
              <c:ptCount val="7"/>
              <c:pt idx="0">
                <c:v>Midage singles</c:v>
              </c:pt>
              <c:pt idx="1">
                <c:v>New families</c:v>
              </c:pt>
              <c:pt idx="2">
                <c:v>Older families</c:v>
              </c:pt>
              <c:pt idx="3">
                <c:v>Older singles</c:v>
              </c:pt>
              <c:pt idx="4">
                <c:v>Retirees</c:v>
              </c:pt>
              <c:pt idx="5">
                <c:v>Young families</c:v>
              </c:pt>
              <c:pt idx="6">
                <c:v>Young singles</c:v>
              </c:pt>
            </c:strLit>
          </c:cat>
          <c:val>
            <c:numLit>
              <c:formatCode>General</c:formatCode>
              <c:ptCount val="7"/>
              <c:pt idx="0">
                <c:v>6.026</c:v>
              </c:pt>
              <c:pt idx="1">
                <c:v>4.822</c:v>
              </c:pt>
              <c:pt idx="2">
                <c:v>9.077</c:v>
              </c:pt>
              <c:pt idx="3">
                <c:v>6.781</c:v>
              </c:pt>
              <c:pt idx="4">
                <c:v>6.142</c:v>
              </c:pt>
              <c:pt idx="5">
                <c:v>8.723</c:v>
              </c:pt>
              <c:pt idx="6">
                <c:v>4.25</c:v>
              </c:pt>
            </c:numLit>
          </c:val>
        </c:ser>
        <c:ser>
          <c:idx val="1"/>
          <c:order val="1"/>
          <c:tx>
            <c:v>Mainstream</c:v>
          </c:tx>
          <c:spPr>
            <a:solidFill xmlns:a="http://schemas.openxmlformats.org/drawingml/2006/main">
              <a:srgbClr val="FF7F0E"/>
            </a:solidFill>
          </c:spPr>
          <c:cat>
            <c:strLit>
              <c:ptCount val="7"/>
              <c:pt idx="0">
                <c:v>Midage singles</c:v>
              </c:pt>
              <c:pt idx="1">
                <c:v>New families</c:v>
              </c:pt>
              <c:pt idx="2">
                <c:v>Older families</c:v>
              </c:pt>
              <c:pt idx="3">
                <c:v>Older singles</c:v>
              </c:pt>
              <c:pt idx="4">
                <c:v>Retirees</c:v>
              </c:pt>
              <c:pt idx="5">
                <c:v>Young families</c:v>
              </c:pt>
              <c:pt idx="6">
                <c:v>Young singles</c:v>
              </c:pt>
            </c:strLit>
          </c:cat>
          <c:val>
            <c:numLit>
              <c:formatCode>General</c:formatCode>
              <c:ptCount val="7"/>
              <c:pt idx="0">
                <c:v>6.432</c:v>
              </c:pt>
              <c:pt idx="1">
                <c:v>4.892</c:v>
              </c:pt>
              <c:pt idx="2">
                <c:v>9.255</c:v>
              </c:pt>
              <c:pt idx="3">
                <c:v>6.712</c:v>
              </c:pt>
              <c:pt idx="4">
                <c:v>5.926</c:v>
              </c:pt>
              <c:pt idx="5">
                <c:v>8.638</c:v>
              </c:pt>
              <c:pt idx="6">
                <c:v>4.576</c:v>
              </c:pt>
            </c:numLit>
          </c:val>
        </c:ser>
        <c:ser>
          <c:idx val="2"/>
          <c:order val="2"/>
          <c:tx>
            <c:v>Premium</c:v>
          </c:tx>
          <c:spPr>
            <a:solidFill xmlns:a="http://schemas.openxmlformats.org/drawingml/2006/main">
              <a:srgbClr val="2CA02C"/>
            </a:solidFill>
          </c:spPr>
          <c:cat>
            <c:strLit>
              <c:ptCount val="7"/>
              <c:pt idx="0">
                <c:v>Midage singles</c:v>
              </c:pt>
              <c:pt idx="1">
                <c:v>New families</c:v>
              </c:pt>
              <c:pt idx="2">
                <c:v>Older families</c:v>
              </c:pt>
              <c:pt idx="3">
                <c:v>Older singles</c:v>
              </c:pt>
              <c:pt idx="4">
                <c:v>Retirees</c:v>
              </c:pt>
              <c:pt idx="5">
                <c:v>Young families</c:v>
              </c:pt>
              <c:pt idx="6">
                <c:v>Young singles</c:v>
              </c:pt>
            </c:strLit>
          </c:cat>
          <c:val>
            <c:numLit>
              <c:formatCode>General</c:formatCode>
              <c:ptCount val="7"/>
              <c:pt idx="0">
                <c:v>6.079</c:v>
              </c:pt>
              <c:pt idx="1">
                <c:v>4.816</c:v>
              </c:pt>
              <c:pt idx="2">
                <c:v>9.072</c:v>
              </c:pt>
              <c:pt idx="3">
                <c:v>6.77</c:v>
              </c:pt>
              <c:pt idx="4">
                <c:v>6.103</c:v>
              </c:pt>
              <c:pt idx="5">
                <c:v>8.716</c:v>
              </c:pt>
              <c:pt idx="6">
                <c:v>4.264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Offset val="76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3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latin typeface="Arial"/>
                    <a:ea typeface="Arial"/>
                    <a:cs typeface="Arial"/>
                  </a:rPr>
                  <a:t>Packs per customer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09090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Budget</c:v>
          </c:tx>
          <c:spPr>
            <a:solidFill xmlns:a="http://schemas.openxmlformats.org/drawingml/2006/main">
              <a:srgbClr val="1F77B4"/>
            </a:solidFill>
          </c:spPr>
          <c:cat>
            <c:strLit>
              <c:ptCount val="7"/>
              <c:pt idx="0">
                <c:v>Midage singles</c:v>
              </c:pt>
              <c:pt idx="1">
                <c:v>New families</c:v>
              </c:pt>
              <c:pt idx="2">
                <c:v>Older families</c:v>
              </c:pt>
              <c:pt idx="3">
                <c:v>Older singles</c:v>
              </c:pt>
              <c:pt idx="4">
                <c:v>Retirees</c:v>
              </c:pt>
              <c:pt idx="5">
                <c:v>Young families</c:v>
              </c:pt>
              <c:pt idx="6">
                <c:v>Young singles</c:v>
              </c:pt>
            </c:strLit>
          </c:cat>
          <c:val>
            <c:numLit>
              <c:formatCode>General</c:formatCode>
              <c:ptCount val="7"/>
              <c:pt idx="0">
                <c:v>33345.7</c:v>
              </c:pt>
              <c:pt idx="1">
                <c:v>20607.45</c:v>
              </c:pt>
              <c:pt idx="2">
                <c:v>156863.75</c:v>
              </c:pt>
              <c:pt idx="3">
                <c:v>127833.6</c:v>
              </c:pt>
              <c:pt idx="4">
                <c:v>105916.3</c:v>
              </c:pt>
              <c:pt idx="5">
                <c:v>129717.95</c:v>
              </c:pt>
              <c:pt idx="6">
                <c:v>57122.1</c:v>
              </c:pt>
            </c:numLit>
          </c:val>
        </c:ser>
        <c:ser>
          <c:idx val="1"/>
          <c:order val="1"/>
          <c:tx>
            <c:v>Mainstream</c:v>
          </c:tx>
          <c:spPr>
            <a:solidFill xmlns:a="http://schemas.openxmlformats.org/drawingml/2006/main">
              <a:srgbClr val="FF7F0E"/>
            </a:solidFill>
          </c:spPr>
          <c:cat>
            <c:strLit>
              <c:ptCount val="7"/>
              <c:pt idx="0">
                <c:v>Midage singles</c:v>
              </c:pt>
              <c:pt idx="1">
                <c:v>New families</c:v>
              </c:pt>
              <c:pt idx="2">
                <c:v>Older families</c:v>
              </c:pt>
              <c:pt idx="3">
                <c:v>Older singles</c:v>
              </c:pt>
              <c:pt idx="4">
                <c:v>Retirees</c:v>
              </c:pt>
              <c:pt idx="5">
                <c:v>Young families</c:v>
              </c:pt>
              <c:pt idx="6">
                <c:v>Young singles</c:v>
              </c:pt>
            </c:strLit>
          </c:cat>
          <c:val>
            <c:numLit>
              <c:formatCode>General</c:formatCode>
              <c:ptCount val="7"/>
              <c:pt idx="0">
                <c:v>84734.25</c:v>
              </c:pt>
              <c:pt idx="1">
                <c:v>15979.7</c:v>
              </c:pt>
              <c:pt idx="2">
                <c:v>96413.55</c:v>
              </c:pt>
              <c:pt idx="3">
                <c:v>124648.5</c:v>
              </c:pt>
              <c:pt idx="4">
                <c:v>145168.95</c:v>
              </c:pt>
              <c:pt idx="5">
                <c:v>86338.25</c:v>
              </c:pt>
              <c:pt idx="6">
                <c:v>147582.2</c:v>
              </c:pt>
            </c:numLit>
          </c:val>
        </c:ser>
        <c:ser>
          <c:idx val="2"/>
          <c:order val="2"/>
          <c:tx>
            <c:v>Premium</c:v>
          </c:tx>
          <c:spPr>
            <a:solidFill xmlns:a="http://schemas.openxmlformats.org/drawingml/2006/main">
              <a:srgbClr val="2CA02C"/>
            </a:solidFill>
          </c:spPr>
          <c:cat>
            <c:strLit>
              <c:ptCount val="7"/>
              <c:pt idx="0">
                <c:v>Midage singles</c:v>
              </c:pt>
              <c:pt idx="1">
                <c:v>New families</c:v>
              </c:pt>
              <c:pt idx="2">
                <c:v>Older families</c:v>
              </c:pt>
              <c:pt idx="3">
                <c:v>Older singles</c:v>
              </c:pt>
              <c:pt idx="4">
                <c:v>Retirees</c:v>
              </c:pt>
              <c:pt idx="5">
                <c:v>Young families</c:v>
              </c:pt>
              <c:pt idx="6">
                <c:v>Young singles</c:v>
              </c:pt>
            </c:strLit>
          </c:cat>
          <c:val>
            <c:numLit>
              <c:formatCode>General</c:formatCode>
              <c:ptCount val="7"/>
              <c:pt idx="0">
                <c:v>54443.85</c:v>
              </c:pt>
              <c:pt idx="1">
                <c:v>10760.8</c:v>
              </c:pt>
              <c:pt idx="2">
                <c:v>75242.6</c:v>
              </c:pt>
              <c:pt idx="3">
                <c:v>123537.55</c:v>
              </c:pt>
              <c:pt idx="4">
                <c:v>91296.65</c:v>
              </c:pt>
              <c:pt idx="5">
                <c:v>78571.7</c:v>
              </c:pt>
              <c:pt idx="6">
                <c:v>39052.3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3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latin typeface="Arial"/>
                    <a:ea typeface="Arial"/>
                    <a:cs typeface="Arial"/>
                  </a:rPr>
                  <a:t>Sales ($)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</c:title>
        <c:numFmt formatCode="$#,##0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09090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Trial</c:v>
          </c:tx>
          <c:spPr>
            <a:solidFill xmlns:a="http://schemas.openxmlformats.org/drawingml/2006/main">
              <a:srgbClr val="1F77B4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$#,##0</c:formatCode>
              <c:ptCount val="3"/>
              <c:pt idx="0">
                <c:v>235</c:v>
              </c:pt>
              <c:pt idx="1">
                <c:v>278.5</c:v>
              </c:pt>
              <c:pt idx="2">
                <c:v>263.5</c:v>
              </c:pt>
            </c:numLit>
          </c:val>
        </c:ser>
        <c:ser>
          <c:idx val="1"/>
          <c:order val="1"/>
          <c:tx>
            <c:v>Scaled control</c:v>
          </c:tx>
          <c:spPr>
            <a:solidFill xmlns:a="http://schemas.openxmlformats.org/drawingml/2006/main">
              <a:srgbClr val="FF7F0E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$#,##0</c:formatCode>
              <c:ptCount val="3"/>
              <c:pt idx="0">
                <c:v>249.763</c:v>
              </c:pt>
              <c:pt idx="1">
                <c:v>203.802</c:v>
              </c:pt>
              <c:pt idx="2">
                <c:v>162.346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3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latin typeface="Arial"/>
                    <a:ea typeface="Arial"/>
                    <a:cs typeface="Arial"/>
                  </a:rPr>
                  <a:t>Sales ($)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</c:title>
        <c:numFmt formatCode="$#,##0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Trial</c:v>
          </c:tx>
          <c:spPr>
            <a:solidFill xmlns:a="http://schemas.openxmlformats.org/drawingml/2006/main">
              <a:srgbClr val="1F77B4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$#,##0</c:formatCode>
              <c:ptCount val="3"/>
              <c:pt idx="0">
                <c:v>913.2</c:v>
              </c:pt>
              <c:pt idx="1">
                <c:v>1026.8</c:v>
              </c:pt>
              <c:pt idx="2">
                <c:v>848.2</c:v>
              </c:pt>
            </c:numLit>
          </c:val>
        </c:ser>
        <c:ser>
          <c:idx val="1"/>
          <c:order val="1"/>
          <c:tx>
            <c:v>Scaled control</c:v>
          </c:tx>
          <c:spPr>
            <a:solidFill xmlns:a="http://schemas.openxmlformats.org/drawingml/2006/main">
              <a:srgbClr val="FF7F0E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$#,##0</c:formatCode>
              <c:ptCount val="3"/>
              <c:pt idx="0">
                <c:v>864.522</c:v>
              </c:pt>
              <c:pt idx="1">
                <c:v>780.32</c:v>
              </c:pt>
              <c:pt idx="2">
                <c:v>819.317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3E3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Trial</c:v>
          </c:tx>
          <c:spPr>
            <a:solidFill xmlns:a="http://schemas.openxmlformats.org/drawingml/2006/main">
              <a:srgbClr val="1F77B4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$#,##0</c:formatCode>
              <c:ptCount val="3"/>
              <c:pt idx="0">
                <c:v>1370.2</c:v>
              </c:pt>
              <c:pt idx="1">
                <c:v>1477.2</c:v>
              </c:pt>
              <c:pt idx="2">
                <c:v>1439.4</c:v>
              </c:pt>
            </c:numLit>
          </c:val>
        </c:ser>
        <c:ser>
          <c:idx val="1"/>
          <c:order val="1"/>
          <c:tx>
            <c:v>Scaled control</c:v>
          </c:tx>
          <c:spPr>
            <a:solidFill xmlns:a="http://schemas.openxmlformats.org/drawingml/2006/main">
              <a:srgbClr val="FF7F0E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$#,##0</c:formatCode>
              <c:ptCount val="3"/>
              <c:pt idx="0">
                <c:v>1406.989</c:v>
              </c:pt>
              <c:pt idx="1">
                <c:v>1210.083</c:v>
              </c:pt>
              <c:pt idx="2">
                <c:v>1206.477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3E3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09090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Trial</c:v>
          </c:tx>
          <c:spPr>
            <a:solidFill xmlns:a="http://schemas.openxmlformats.org/drawingml/2006/main">
              <a:srgbClr val="1F77B4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#,##0</c:formatCode>
              <c:ptCount val="3"/>
              <c:pt idx="0">
                <c:v>45</c:v>
              </c:pt>
              <c:pt idx="1">
                <c:v>50</c:v>
              </c:pt>
              <c:pt idx="2">
                <c:v>47</c:v>
              </c:pt>
            </c:numLit>
          </c:val>
        </c:ser>
        <c:ser>
          <c:idx val="1"/>
          <c:order val="1"/>
          <c:tx>
            <c:v>Scaled control</c:v>
          </c:tx>
          <c:spPr>
            <a:solidFill xmlns:a="http://schemas.openxmlformats.org/drawingml/2006/main">
              <a:srgbClr val="FF7F0E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#,##0</c:formatCode>
              <c:ptCount val="3"/>
              <c:pt idx="0">
                <c:v>45.151</c:v>
              </c:pt>
              <c:pt idx="1">
                <c:v>40.134</c:v>
              </c:pt>
              <c:pt idx="2">
                <c:v>30.101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3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latin typeface="Arial"/>
                    <a:ea typeface="Arial"/>
                    <a:cs typeface="Arial"/>
                  </a:rPr>
                  <a:t>Customers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Trial</c:v>
          </c:tx>
          <c:spPr>
            <a:solidFill xmlns:a="http://schemas.openxmlformats.org/drawingml/2006/main">
              <a:srgbClr val="1F77B4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#,##0</c:formatCode>
              <c:ptCount val="3"/>
              <c:pt idx="0">
                <c:v>107</c:v>
              </c:pt>
              <c:pt idx="1">
                <c:v>115</c:v>
              </c:pt>
              <c:pt idx="2">
                <c:v>105</c:v>
              </c:pt>
            </c:numLit>
          </c:val>
        </c:ser>
        <c:ser>
          <c:idx val="1"/>
          <c:order val="1"/>
          <c:tx>
            <c:v>Scaled control</c:v>
          </c:tx>
          <c:spPr>
            <a:solidFill xmlns:a="http://schemas.openxmlformats.org/drawingml/2006/main">
              <a:srgbClr val="FF7F0E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#,##0</c:formatCode>
              <c:ptCount val="3"/>
              <c:pt idx="0">
                <c:v>95</c:v>
              </c:pt>
              <c:pt idx="1">
                <c:v>94</c:v>
              </c:pt>
              <c:pt idx="2">
                <c:v>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3E3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Trial</c:v>
          </c:tx>
          <c:spPr>
            <a:solidFill xmlns:a="http://schemas.openxmlformats.org/drawingml/2006/main">
              <a:srgbClr val="1F77B4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#,##0</c:formatCode>
              <c:ptCount val="3"/>
              <c:pt idx="0">
                <c:v>124</c:v>
              </c:pt>
              <c:pt idx="1">
                <c:v>134</c:v>
              </c:pt>
              <c:pt idx="2">
                <c:v>128</c:v>
              </c:pt>
            </c:numLit>
          </c:val>
        </c:ser>
        <c:ser>
          <c:idx val="1"/>
          <c:order val="1"/>
          <c:tx>
            <c:v>Scaled control</c:v>
          </c:tx>
          <c:spPr>
            <a:solidFill xmlns:a="http://schemas.openxmlformats.org/drawingml/2006/main">
              <a:srgbClr val="FF7F0E"/>
            </a:solidFill>
          </c:spPr>
          <c:cat>
            <c:strLit>
              <c:ptCount val="3"/>
              <c:pt idx="0">
                <c:v>Feb</c:v>
              </c:pt>
              <c:pt idx="1">
                <c:v>Mar</c:v>
              </c:pt>
              <c:pt idx="2">
                <c:v>Apr</c:v>
              </c:pt>
            </c:strLit>
          </c:cat>
          <c:val>
            <c:numLit>
              <c:formatCode>#,##0</c:formatCode>
              <c:ptCount val="3"/>
              <c:pt idx="0">
                <c:v>125.288</c:v>
              </c:pt>
              <c:pt idx="1">
                <c:v>118.328</c:v>
              </c:pt>
              <c:pt idx="2">
                <c:v>119.322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3E3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5715">
            <a:solidFill>
              <a:srgbClr val="5555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09090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1B08E-F39B-4A98-B41C-925A1A1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DA438-C016-4DE4-AFA4-1E639BA7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518CB-D37D-4484-989B-E97DE31419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52a351dda492d"/>
          <a:srcRect xmlns:a="http://schemas.openxmlformats.org/drawingml/2006/main" l="413" t="0" r="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CEBD5-855A-47CB-B9BA-69312555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FC14C-D5FB-45C9-9694-D1F31EBC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Category review: Chips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B790A-377C-4791-A29D-E2647F02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04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Retail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3ADF0-FAE5-426D-92A0-BA643B1F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909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Customer segments and store layout trial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55114-6813-4300-9A33-FFF9E1CB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quantium</a:t>
            </a:r>
          </a:p>
        </p:txBody>
      </p:sp>
    </p:spTree>
    <p:extLst>
      <p:ext uri="{BB962C8B-B14F-4D97-AF65-F5344CB8AC3E}">
        <p14:creationId xmlns:p14="http://schemas.microsoft.com/office/powerpoint/2010/main" val="1471280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A98D0-4E35-42EB-831A-AFD4A0D9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EE9EE-23BD-44AE-8059-E4D5B911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0"/>
            <a:ext cx="24003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18594-3D19-4474-83F2-69F8BCE2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1ADF7-C30F-4545-BA75-95C08DDB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"/>
            <a:ext cx="547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Data and analysis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CA6FE-C512-455D-B12A-4902C9D9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61912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6F73C-1430-40BB-A760-2F62A3AE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04950"/>
            <a:ext cx="1743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Customer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9A40E-DB76-4FFD-9DE7-6CCAB78B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95475"/>
            <a:ext cx="1714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72,637 customers match 264,836 transaction rows. Chip analysis retains 246,740 product rows after excluding Salsa and two 200-pack outliers.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9B7F0-E03B-42C0-99A8-163DB2EC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04950"/>
            <a:ext cx="95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D72C7-54A3-4278-8FD2-166DA12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04950"/>
            <a:ext cx="1743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Store trial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45D64-70BF-4DB0-996F-DAD3FA54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95475"/>
            <a:ext cx="1714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QVI_data.csv contains 264,834 product rows across 12 months. The trial covers February to April 2019; seven earlier months establish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7E4FA-B812-444F-B782-51EF737E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04950"/>
            <a:ext cx="95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0BFC3-CDB0-42FC-8B6B-FF995104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04950"/>
            <a:ext cx="1743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Effect estimate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C7031-A31C-4137-92F0-4C74E707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95475"/>
            <a:ext cx="1714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Match stores by monthly sales and customers, scale controls on pre-trial totals, compare monthly gaps, and assess uncertainty with permutation and Bootstrap tests.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13C14-5A24-4613-ABD7-AB83B13B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"/>
            <a:ext cx="1762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F86CC-BC2E-4EF2-8E45-9A238C94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47875"/>
            <a:ext cx="17335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customer groups drive chip sales?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Did the layout trial improve sales and customer counts?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6BF03-3B52-4D63-86F1-10318219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>
            <a:defPPr algn="l">
              <a:defRPr sz="14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quantium</a:t>
            </a:r>
          </a:p>
        </p:txBody>
      </p:sp>
    </p:spTree>
    <p:extLst>
      <p:ext uri="{BB962C8B-B14F-4D97-AF65-F5344CB8AC3E}">
        <p14:creationId xmlns:p14="http://schemas.microsoft.com/office/powerpoint/2010/main" val="1424948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3CF83-2056-4B3B-8C31-2F4B1C25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F0599-0E13-4D1E-891B-72C8D445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E35FC-A09B-4D57-A329-3B9CD3D9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quantium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4AD83-F250-43C1-A85F-6407233D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Chip category review | 2018–2019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09058-E755-4CC1-A4B6-477D1B2B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"/>
            <a:ext cx="666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22C62-697E-47DD-A0A6-F5356EA1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19225"/>
            <a:ext cx="36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E3B28-17F2-4B9E-B4E5-1458B55F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Chips Category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D2005-F983-4D5C-9E36-3FF0D99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85875"/>
            <a:ext cx="500062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• The top three segments generate 24.91% of chip sales: Older Families / Budget, Young Singles/Couples / Mainstream, and Retirees / Mainstream.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• Older and Young Families buy the most packs per customer.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• Daily chip sales averaged $6,074 on 18–24 Dec versus $4,892 on 1–7 Dec. No transactions appear on 25 Dec.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BDB07-F31E-4B6C-95D9-542CF4E4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43250"/>
            <a:ext cx="36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09180-3B78-4D66-B486-D7713342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Trial Store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CDE34-7694-43E7-B9B9-6F1C40B4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5000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• Stores 77 and 86 show positive descriptive sales and customer gaps versus controls 233 and 155. After six-test adjustment, only store 86 customer growth reaches p = 0.05.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• Store 88 is control-sensitive: its sales estimate is +12.1% versus 237 but -5.0% versus another plausible control, 178.</a:t>
            </a:r>
          </a:p>
        </p:txBody>
      </p:sp>
    </p:spTree>
    <p:extLst>
      <p:ext uri="{BB962C8B-B14F-4D97-AF65-F5344CB8AC3E}">
        <p14:creationId xmlns:p14="http://schemas.microsoft.com/office/powerpoint/2010/main" val="853603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1939B-51AD-463D-9E58-B23AE64D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F4B02-5717-4BAC-9863-D3CBC98B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0"/>
            <a:ext cx="85915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ED71D-F202-41A0-ACA3-7272B5CC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539A-6D90-473A-AC82-C1FD0217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quantium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A47F8-5A63-4C4C-813A-7D804B64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Chip category review | 2018–2019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C4DA5-6AA3-4183-9896-0F958934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9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9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9730D-2E4D-49FA-B02D-E3E6BBD3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</p:spTree>
    <p:extLst>
      <p:ext uri="{BB962C8B-B14F-4D97-AF65-F5344CB8AC3E}">
        <p14:creationId xmlns:p14="http://schemas.microsoft.com/office/powerpoint/2010/main" val="239283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BB905-ADFA-4609-893C-829B1835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13D66-D04C-4ED8-BA83-BCDFF9DB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D0E27-EFAD-4220-B401-E9CA230C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quantium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72CFE-CD44-4689-82F6-C840E21F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Chip category review | 2018–2019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D1FC7-6AF3-4F38-A501-0324972B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Daily chip sales peak before Christmas; 25 Dec has no recorded transactions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F60EA58-EAA1-47B4-A0EE-DD2668302D73}"/>
              </a:ext>
            </a:extLst>
          </p:cNvPr>
          <p:cNvGraphicFramePr/>
          <p:nvPr/>
        </p:nvGraphicFramePr>
        <p:xfrm>
          <a:off xmlns:a="http://schemas.openxmlformats.org/drawingml/2006/main" x="1000125" y="1657350"/>
          <a:ext xmlns:a="http://schemas.openxmlformats.org/drawingml/2006/main" cx="7667625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d483dc29f6483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6ADAD-2112-43AD-B668-9D2B36AB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52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18–24 Dec average: $6,074/day; 1–7 Dec: $4,892/day (+24.2%). The data do not establish why 25 Dec is empty.</a:t>
            </a:r>
          </a:p>
        </p:txBody>
      </p:sp>
    </p:spTree>
    <p:extLst>
      <p:ext uri="{BB962C8B-B14F-4D97-AF65-F5344CB8AC3E}">
        <p14:creationId xmlns:p14="http://schemas.microsoft.com/office/powerpoint/2010/main" val="580268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F2D87-3025-4D76-98C8-9FB9AB8A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AD76B-B039-4C5E-926E-B30B7FD4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8DB3B-90FC-4A4C-813D-4ED2724C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quantium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0847F-4132-44AC-B4EC-807D0BDE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Chip category review | 2018–2019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34689-B34D-4FE9-BF0D-228C584E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Older and Young Families buy the most packs per 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1DAA8-0A83-479E-B4A6-017D7CC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19175"/>
            <a:ext cx="752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The pattern is similar across Budget, Mainstream and Premium customers.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DF4864F-4370-43F9-BE3D-38DDDCF609A1}"/>
              </a:ext>
            </a:extLst>
          </p:cNvPr>
          <p:cNvGraphicFramePr/>
          <p:nvPr/>
        </p:nvGraphicFramePr>
        <p:xfrm>
          <a:off xmlns:a="http://schemas.openxmlformats.org/drawingml/2006/main" x="1000125" y="1628775"/>
          <a:ext xmlns:a="http://schemas.openxmlformats.org/drawingml/2006/main" cx="7658100" cy="2771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df898727af4f7e"/>
          </a:graphicData>
        </a:graphic>
      </p:graphicFrame>
    </p:spTree>
    <p:extLst>
      <p:ext uri="{BB962C8B-B14F-4D97-AF65-F5344CB8AC3E}">
        <p14:creationId xmlns:p14="http://schemas.microsoft.com/office/powerpoint/2010/main" val="2077288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B45E1-3D69-4C35-B21A-5A8A7B1A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78C64-9A94-4974-98EA-FFD0C107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D97D6-B960-4121-B1EA-52A2DB3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quantium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A091C-C486-4753-A701-2DD23801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Chip category review | 2018–2019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42CED-1B4D-4352-B409-DE7BDFDC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Three customer segments contribute 24.91% of chip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4360F-45C1-40B9-A80F-A45E11F3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6680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Top segment: Older Families / Budget ($156,864). Next: Young Singles/Couples / Mainstream ($147,582), then Retirees / Mainstream ($145,169).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67AF7B0-0539-4C5A-A9F0-E7B786170DBC}"/>
              </a:ext>
            </a:extLst>
          </p:cNvPr>
          <p:cNvGraphicFramePr/>
          <p:nvPr/>
        </p:nvGraphicFramePr>
        <p:xfrm>
          <a:off xmlns:a="http://schemas.openxmlformats.org/drawingml/2006/main" x="1000125" y="1724025"/>
          <a:ext xmlns:a="http://schemas.openxmlformats.org/drawingml/2006/main" cx="7658100" cy="2628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63c155023445bd"/>
          </a:graphicData>
        </a:graphic>
      </p:graphicFrame>
    </p:spTree>
    <p:extLst>
      <p:ext uri="{BB962C8B-B14F-4D97-AF65-F5344CB8AC3E}">
        <p14:creationId xmlns:p14="http://schemas.microsoft.com/office/powerpoint/2010/main" val="1194489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C1775-2279-401D-889A-3EC75F74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4DB70-793A-4274-BB8D-175D2680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0"/>
            <a:ext cx="85915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24C4A-F750-414E-BA77-E060FC9A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7E8F3-0DC9-4169-B80F-4705CF64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quantium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60D29-88DE-476E-AF6D-5444C5F9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Chip category review | 2018–2019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09875-0A3F-4147-9A26-0996ADB7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9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9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241BE-9C7F-4AB9-9F2F-FC12F6C6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Trial store performance</a:t>
            </a:r>
          </a:p>
        </p:txBody>
      </p:sp>
    </p:spTree>
    <p:extLst>
      <p:ext uri="{BB962C8B-B14F-4D97-AF65-F5344CB8AC3E}">
        <p14:creationId xmlns:p14="http://schemas.microsoft.com/office/powerpoint/2010/main" val="11073914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D8BDB-844A-49D0-9626-F637B82D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C868C-8E95-4144-83C4-5C76DB8D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2346B-B54B-428D-9236-6CDD9D75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quantium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5BC7A-E139-465E-90A2-8CE23412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Chip category review | 2018–2019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7C380-347A-4369-92B4-D87B37F4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Sales rose against selected controls, but adjusted tests remain inconclusive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0E59E-5553-4FA4-A758-1BBEB9FF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09675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Trial-period aggregate uplift: 77 +26.2%   86 +13.2%   88 +12.1%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F5599-570A-454C-A86E-9F45306F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Store 77 vs 233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812FB5B7-4782-48DD-9993-71EAF00DFE16}"/>
              </a:ext>
            </a:extLst>
          </p:cNvPr>
          <p:cNvGraphicFramePr/>
          <p:nvPr/>
        </p:nvGraphicFramePr>
        <p:xfrm>
          <a:off xmlns:a="http://schemas.openxmlformats.org/drawingml/2006/main" x="952500" y="2000250"/>
          <a:ext xmlns:a="http://schemas.openxmlformats.org/drawingml/2006/main" cx="24003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0a0481e264468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A276C-46F8-4DE9-AB03-C4E04C41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Store 86 vs 155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07281298-7EFA-4C19-8215-BD4B8AFE3ADC}"/>
              </a:ext>
            </a:extLst>
          </p:cNvPr>
          <p:cNvGraphicFramePr/>
          <p:nvPr/>
        </p:nvGraphicFramePr>
        <p:xfrm>
          <a:off xmlns:a="http://schemas.openxmlformats.org/drawingml/2006/main" x="3571875" y="2000250"/>
          <a:ext xmlns:a="http://schemas.openxmlformats.org/drawingml/2006/main" cx="24003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9a4238b0a84f3a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F3E22-9581-4683-8A89-3F65457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Store 88 vs 237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AA01562B-13F4-431E-A314-36FEB9078A4E}"/>
              </a:ext>
            </a:extLst>
          </p:cNvPr>
          <p:cNvGraphicFramePr/>
          <p:nvPr/>
        </p:nvGraphicFramePr>
        <p:xfrm>
          <a:off xmlns:a="http://schemas.openxmlformats.org/drawingml/2006/main" x="6191250" y="2000250"/>
          <a:ext xmlns:a="http://schemas.openxmlformats.org/drawingml/2006/main" cx="24003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68a163e55e480c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35007-4C3B-4A97-A415-7A57B659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91025"/>
            <a:ext cx="7762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Holm-adjusted p: 0.200, 0.083, 0.200. Store 88 sales correlation with control 237 was only 0.308; another suitable control implies -5.0%.</a:t>
            </a:r>
          </a:p>
        </p:txBody>
      </p:sp>
    </p:spTree>
    <p:extLst>
      <p:ext uri="{BB962C8B-B14F-4D97-AF65-F5344CB8AC3E}">
        <p14:creationId xmlns:p14="http://schemas.microsoft.com/office/powerpoint/2010/main" val="356370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5D5F6-ADD4-47F7-970D-3DC5C7CA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60728-0EE9-446F-86AF-C7756AE7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49466-46ED-4E09-9070-0E3C770A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quantium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41101-72DF-4080-B8EE-0B5AD9DA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Chip category review | 2018–2019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97D13-F59E-4CCC-A4F3-3A848D57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Store 86 customer growth reaches the adjusted 0.05 threshold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98758-242B-436A-941C-E14EEBF8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09675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Trial-period aggregate uplift: 77 +23.1%   86 +13.5%   88 +6.4%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9071-74F3-43A7-9C4D-A55D538C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Store 77 vs 233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95D220AE-9EF8-4325-B809-C8E72F21E764}"/>
              </a:ext>
            </a:extLst>
          </p:cNvPr>
          <p:cNvGraphicFramePr/>
          <p:nvPr/>
        </p:nvGraphicFramePr>
        <p:xfrm>
          <a:off xmlns:a="http://schemas.openxmlformats.org/drawingml/2006/main" x="952500" y="2000250"/>
          <a:ext xmlns:a="http://schemas.openxmlformats.org/drawingml/2006/main" cx="24003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ee004d347d4ef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69036-EB67-40DA-8B66-BB5BEA71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Store 86 vs 155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CBD1DBC3-7A95-402F-8E4E-EFBB525CA6DF}"/>
              </a:ext>
            </a:extLst>
          </p:cNvPr>
          <p:cNvGraphicFramePr/>
          <p:nvPr/>
        </p:nvGraphicFramePr>
        <p:xfrm>
          <a:off xmlns:a="http://schemas.openxmlformats.org/drawingml/2006/main" x="3571875" y="2000250"/>
          <a:ext xmlns:a="http://schemas.openxmlformats.org/drawingml/2006/main" cx="24003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aa859ce8164ce4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FA714-04BA-47ED-8EB0-FEDF9D1D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Store 88 vs 237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D3655829-0C39-4E5E-8C38-F1B1A46FB4F4}"/>
              </a:ext>
            </a:extLst>
          </p:cNvPr>
          <p:cNvGraphicFramePr/>
          <p:nvPr/>
        </p:nvGraphicFramePr>
        <p:xfrm>
          <a:off xmlns:a="http://schemas.openxmlformats.org/drawingml/2006/main" x="6191250" y="2000250"/>
          <a:ext xmlns:a="http://schemas.openxmlformats.org/drawingml/2006/main" cx="24003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c6dfc28b9045ac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7F8D5-EC40-4297-9990-EC5D90F7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91025"/>
            <a:ext cx="7762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Holm-adjusted p: 0.200, 0.050, 0.200. Store 88 remains sensitive to control choice; these short-series results do not establish causality.</a:t>
            </a:r>
          </a:p>
        </p:txBody>
      </p:sp>
    </p:spTree>
    <p:extLst>
      <p:ext uri="{BB962C8B-B14F-4D97-AF65-F5344CB8AC3E}">
        <p14:creationId xmlns:p14="http://schemas.microsoft.com/office/powerpoint/2010/main" val="1041908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6380B-FDB5-4081-9945-7ED564C3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48370-31E1-434B-878B-3B39DB17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05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E24BA-D050-4DB0-BB35-977BE5A4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623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Decision priorities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ECB25-FDE1-4446-A501-A6EB97B1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14725"/>
            <a:ext cx="5762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Prioritize testable offers for Older Families / Budget ($156,864), Young Singles/Couples / Mainstream ($147,582) and Retirees / Mainstream ($145,169). Store 86 shows the clearest customer signal after six-test adjustment (Holm p = 0.05). Sales results and store 88 remain sensitive to the benchmark and short observation window. Before any rollout, collect promotion, stock and execution records, then repeat the trial with longer pre-trial history and multiple suitable controls.</a:t>
            </a:r>
          </a:p>
        </p:txBody>
      </p:sp>
    </p:spTree>
    <p:extLst>
      <p:ext uri="{BB962C8B-B14F-4D97-AF65-F5344CB8AC3E}">
        <p14:creationId xmlns:p14="http://schemas.microsoft.com/office/powerpoint/2010/main" val="1815900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2026-10-09T16:00:16.1530000Z</dcterms:created>
  <dcterms:modified xsi:type="dcterms:W3CDTF">2026-10-09T16:00:16.1530000Z</dcterms:modified>
</coreProperties>
</file>